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157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605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456DBD1-1048-5A22-C973-3E5FA83F5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8D47BA-E1F6-D812-27D5-7BC9DB58D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0165" y="1088571"/>
            <a:ext cx="7538405" cy="2774393"/>
          </a:xfrm>
        </p:spPr>
        <p:txBody>
          <a:bodyPr>
            <a:normAutofit/>
          </a:bodyPr>
          <a:lstStyle/>
          <a:p>
            <a:pPr algn="l"/>
            <a:r>
              <a:rPr lang="en-CA" sz="5400"/>
              <a:t>Loan Performance Trend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EBBBD7-01D4-0CA1-66DD-156016BB0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7060" y="4027211"/>
            <a:ext cx="7538405" cy="1014107"/>
          </a:xfrm>
        </p:spPr>
        <p:txBody>
          <a:bodyPr>
            <a:normAutofit/>
          </a:bodyPr>
          <a:lstStyle/>
          <a:p>
            <a:pPr algn="l"/>
            <a:r>
              <a:rPr lang="en-CA" sz="2200"/>
              <a:t>J</a:t>
            </a:r>
            <a:r>
              <a:rPr lang="en-CA" sz="2200" b="1"/>
              <a:t>une – August 2014 </a:t>
            </a:r>
          </a:p>
          <a:p>
            <a:pPr algn="l"/>
            <a:r>
              <a:rPr lang="en-CA" sz="2200" b="1"/>
              <a:t>Fei Wang </a:t>
            </a:r>
          </a:p>
        </p:txBody>
      </p:sp>
    </p:spTree>
    <p:extLst>
      <p:ext uri="{BB962C8B-B14F-4D97-AF65-F5344CB8AC3E}">
        <p14:creationId xmlns:p14="http://schemas.microsoft.com/office/powerpoint/2010/main" val="3587060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757FB5D-CE82-67E9-60E7-38A68E44C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6807" y="1705173"/>
            <a:ext cx="3278292" cy="1416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46D2F6-2140-D650-AA50-38FCF6040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17" y="3637503"/>
            <a:ext cx="4401812" cy="30346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C040EC-34FE-F34B-770B-D106FBDE4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524" y="1762931"/>
            <a:ext cx="3239769" cy="14152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E253BC-B7F7-ECBF-EB58-3DB36D2D87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17" y="1705173"/>
            <a:ext cx="3278292" cy="13846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B90217D-6C75-CE95-003F-A28DFF6490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7972" y="3755012"/>
            <a:ext cx="4401811" cy="280783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A0D90DD-A3F7-E521-285B-DD073E835512}"/>
              </a:ext>
            </a:extLst>
          </p:cNvPr>
          <p:cNvSpPr txBox="1"/>
          <p:nvPr/>
        </p:nvSpPr>
        <p:spPr>
          <a:xfrm>
            <a:off x="7441310" y="6203731"/>
            <a:ext cx="8859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$12,422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B42DE4-11EA-40C9-764D-7BBBF9BEB6F9}"/>
              </a:ext>
            </a:extLst>
          </p:cNvPr>
          <p:cNvSpPr txBox="1"/>
          <p:nvPr/>
        </p:nvSpPr>
        <p:spPr>
          <a:xfrm>
            <a:off x="8096110" y="4797974"/>
            <a:ext cx="8859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$231,466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E89102-2EFC-1ECD-286D-0A9CCFD8E11C}"/>
              </a:ext>
            </a:extLst>
          </p:cNvPr>
          <p:cNvSpPr txBox="1"/>
          <p:nvPr/>
        </p:nvSpPr>
        <p:spPr>
          <a:xfrm>
            <a:off x="8879986" y="5992642"/>
            <a:ext cx="8859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$40,065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0CD8FB-268D-1D28-2502-3B8F0407F20B}"/>
              </a:ext>
            </a:extLst>
          </p:cNvPr>
          <p:cNvSpPr txBox="1"/>
          <p:nvPr/>
        </p:nvSpPr>
        <p:spPr>
          <a:xfrm>
            <a:off x="9619255" y="3771767"/>
            <a:ext cx="8859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$388,818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35E2F2-2BF9-5594-A99F-3023C171D226}"/>
              </a:ext>
            </a:extLst>
          </p:cNvPr>
          <p:cNvSpPr txBox="1"/>
          <p:nvPr/>
        </p:nvSpPr>
        <p:spPr>
          <a:xfrm>
            <a:off x="10390722" y="5986272"/>
            <a:ext cx="8859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$41,575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FCD551-707D-A133-C944-998BF01EE378}"/>
              </a:ext>
            </a:extLst>
          </p:cNvPr>
          <p:cNvSpPr txBox="1"/>
          <p:nvPr/>
        </p:nvSpPr>
        <p:spPr>
          <a:xfrm>
            <a:off x="6697972" y="4539860"/>
            <a:ext cx="8859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dirty="0"/>
              <a:t>$266,295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3935EC1-FFE9-ECB4-0CAB-245D698C22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7972" y="3814805"/>
            <a:ext cx="1524132" cy="548688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3D03A210-4209-4B97-763E-BA94257A07A6}"/>
              </a:ext>
            </a:extLst>
          </p:cNvPr>
          <p:cNvSpPr txBox="1"/>
          <p:nvPr/>
        </p:nvSpPr>
        <p:spPr>
          <a:xfrm>
            <a:off x="1255580" y="3220497"/>
            <a:ext cx="3476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Total Outstanding Amount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ECCD60-4006-361D-F68F-FF127E4C19A0}"/>
              </a:ext>
            </a:extLst>
          </p:cNvPr>
          <p:cNvSpPr txBox="1"/>
          <p:nvPr/>
        </p:nvSpPr>
        <p:spPr>
          <a:xfrm>
            <a:off x="6561769" y="3320531"/>
            <a:ext cx="3932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Delinquent &amp; Write-Off Amount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767B2F-C071-E9E8-11DA-2F1BA8CE3B60}"/>
              </a:ext>
            </a:extLst>
          </p:cNvPr>
          <p:cNvSpPr txBox="1"/>
          <p:nvPr/>
        </p:nvSpPr>
        <p:spPr>
          <a:xfrm>
            <a:off x="1693135" y="635943"/>
            <a:ext cx="8812087" cy="7954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16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Total outstanding remained stable from June to July, then increased in August</a:t>
            </a:r>
          </a:p>
          <a:p>
            <a:pPr>
              <a:lnSpc>
                <a:spcPts val="216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Both delinquent and write-off amounts increased significantly in August.</a:t>
            </a: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597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309D60-CD20-47C2-240E-8CD1EAFDA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2937" y="4285954"/>
            <a:ext cx="3173814" cy="22788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4B50D0-39D3-E7CC-81F6-9457CDC4A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48" y="881607"/>
            <a:ext cx="5651631" cy="56974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E6B1A3-832F-63A7-9A55-7BDE7D557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2937" y="1382178"/>
            <a:ext cx="3098415" cy="22192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4ED78E-23BE-6295-84E9-36DF904DDE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57" y="1661174"/>
            <a:ext cx="2084938" cy="6463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99D39BC-47D3-D0F8-A30A-B8B6D24F2F42}"/>
              </a:ext>
            </a:extLst>
          </p:cNvPr>
          <p:cNvSpPr txBox="1"/>
          <p:nvPr/>
        </p:nvSpPr>
        <p:spPr>
          <a:xfrm>
            <a:off x="8583854" y="3759032"/>
            <a:ext cx="3476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Write Off Rate by Number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BDBAEE-E27A-0FB3-3678-6B8030A55594}"/>
              </a:ext>
            </a:extLst>
          </p:cNvPr>
          <p:cNvSpPr txBox="1"/>
          <p:nvPr/>
        </p:nvSpPr>
        <p:spPr>
          <a:xfrm>
            <a:off x="564082" y="426476"/>
            <a:ext cx="4722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Delinquent &amp; Write-Off Rate by Amount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A30D3E-1729-D611-899E-D7A456357327}"/>
              </a:ext>
            </a:extLst>
          </p:cNvPr>
          <p:cNvSpPr txBox="1"/>
          <p:nvPr/>
        </p:nvSpPr>
        <p:spPr>
          <a:xfrm>
            <a:off x="8632937" y="747601"/>
            <a:ext cx="3476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Delinquent Rate by Number</a:t>
            </a:r>
          </a:p>
          <a:p>
            <a:endParaRPr lang="en-CA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948A2-257E-7F3C-3FA2-53B8CF432898}"/>
              </a:ext>
            </a:extLst>
          </p:cNvPr>
          <p:cNvSpPr txBox="1"/>
          <p:nvPr/>
        </p:nvSpPr>
        <p:spPr>
          <a:xfrm>
            <a:off x="1450049" y="6123747"/>
            <a:ext cx="8859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0.047%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54C102-0A58-249D-F420-C3F06951E1F0}"/>
              </a:ext>
            </a:extLst>
          </p:cNvPr>
          <p:cNvSpPr txBox="1"/>
          <p:nvPr/>
        </p:nvSpPr>
        <p:spPr>
          <a:xfrm>
            <a:off x="10591559" y="1177012"/>
            <a:ext cx="8859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900" dirty="0"/>
              <a:t>1.08%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7A28FC-6D1A-7D42-B568-B477B7D5A997}"/>
              </a:ext>
            </a:extLst>
          </p:cNvPr>
          <p:cNvSpPr txBox="1"/>
          <p:nvPr/>
        </p:nvSpPr>
        <p:spPr>
          <a:xfrm>
            <a:off x="8796427" y="1766106"/>
            <a:ext cx="8859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900" dirty="0"/>
              <a:t>0.78%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25517D-4FAB-4A9A-501E-9299D798E8A3}"/>
              </a:ext>
            </a:extLst>
          </p:cNvPr>
          <p:cNvSpPr txBox="1"/>
          <p:nvPr/>
        </p:nvSpPr>
        <p:spPr>
          <a:xfrm>
            <a:off x="9757793" y="1874620"/>
            <a:ext cx="8859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900" dirty="0"/>
              <a:t>0.71%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F9083B-7D54-9A2C-AEF4-6A4629C82AF0}"/>
              </a:ext>
            </a:extLst>
          </p:cNvPr>
          <p:cNvSpPr txBox="1"/>
          <p:nvPr/>
        </p:nvSpPr>
        <p:spPr>
          <a:xfrm>
            <a:off x="564082" y="2729325"/>
            <a:ext cx="8859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1.0189%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5418B8-8922-CA82-ACB2-F7A4199ADDCF}"/>
              </a:ext>
            </a:extLst>
          </p:cNvPr>
          <p:cNvSpPr txBox="1"/>
          <p:nvPr/>
        </p:nvSpPr>
        <p:spPr>
          <a:xfrm>
            <a:off x="3389679" y="5730172"/>
            <a:ext cx="8859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0.157%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84346A-C4EA-6A0A-962E-E3A7C3574260}"/>
              </a:ext>
            </a:extLst>
          </p:cNvPr>
          <p:cNvSpPr txBox="1"/>
          <p:nvPr/>
        </p:nvSpPr>
        <p:spPr>
          <a:xfrm>
            <a:off x="5370629" y="5730172"/>
            <a:ext cx="8859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0.155%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5B9DB3-494D-DC34-0C50-7FEE5DBC1905}"/>
              </a:ext>
            </a:extLst>
          </p:cNvPr>
          <p:cNvSpPr txBox="1"/>
          <p:nvPr/>
        </p:nvSpPr>
        <p:spPr>
          <a:xfrm>
            <a:off x="4400916" y="1207791"/>
            <a:ext cx="8859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1.454%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675DA6-037E-91D1-E0EF-6354553576D6}"/>
              </a:ext>
            </a:extLst>
          </p:cNvPr>
          <p:cNvSpPr txBox="1"/>
          <p:nvPr/>
        </p:nvSpPr>
        <p:spPr>
          <a:xfrm>
            <a:off x="2400496" y="3121223"/>
            <a:ext cx="8859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0.905%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BFAF25-8B5D-D679-3A89-FCDFC17FF3C1}"/>
              </a:ext>
            </a:extLst>
          </p:cNvPr>
          <p:cNvSpPr txBox="1"/>
          <p:nvPr/>
        </p:nvSpPr>
        <p:spPr>
          <a:xfrm>
            <a:off x="5655694" y="2253023"/>
            <a:ext cx="2928160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Delinquency rate by amount rose from ~0.9% in July to ~1.45% in August, indicating worsening credit quality.</a:t>
            </a: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258788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</TotalTime>
  <Words>107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Neue Haas Grotesk Text Pro</vt:lpstr>
      <vt:lpstr>VanillaVTI</vt:lpstr>
      <vt:lpstr>Loan Performance Trend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Faye W</dc:creator>
  <cp:lastModifiedBy>Faye W</cp:lastModifiedBy>
  <cp:revision>1</cp:revision>
  <dcterms:created xsi:type="dcterms:W3CDTF">2026-01-21T14:55:34Z</dcterms:created>
  <dcterms:modified xsi:type="dcterms:W3CDTF">2026-01-21T16:44:16Z</dcterms:modified>
</cp:coreProperties>
</file>